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9" r:id="rId2"/>
    <p:sldId id="396" r:id="rId3"/>
    <p:sldId id="400" r:id="rId4"/>
    <p:sldId id="427" r:id="rId5"/>
    <p:sldId id="399" r:id="rId6"/>
    <p:sldId id="402" r:id="rId7"/>
    <p:sldId id="403" r:id="rId8"/>
    <p:sldId id="421" r:id="rId9"/>
    <p:sldId id="418" r:id="rId10"/>
    <p:sldId id="410" r:id="rId11"/>
    <p:sldId id="411" r:id="rId12"/>
    <p:sldId id="412" r:id="rId13"/>
    <p:sldId id="413" r:id="rId14"/>
    <p:sldId id="398" r:id="rId15"/>
    <p:sldId id="351" r:id="rId16"/>
    <p:sldId id="404" r:id="rId17"/>
    <p:sldId id="405" r:id="rId18"/>
    <p:sldId id="406" r:id="rId19"/>
    <p:sldId id="424" r:id="rId20"/>
    <p:sldId id="426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9ED6"/>
    <a:srgbClr val="003300"/>
    <a:srgbClr val="0000FF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62" autoAdjust="0"/>
    <p:restoredTop sz="97869" autoAdjust="0"/>
  </p:normalViewPr>
  <p:slideViewPr>
    <p:cSldViewPr>
      <p:cViewPr varScale="1">
        <p:scale>
          <a:sx n="65" d="100"/>
          <a:sy n="65" d="100"/>
        </p:scale>
        <p:origin x="1412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4" d="100"/>
        <a:sy n="154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-3144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46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FDC75-7F73-4A4A-A77C-09AADF00E0EA}" type="datetimeFigureOut">
              <a:rPr lang="en-US" smtClean="0"/>
              <a:pPr/>
              <a:t>5/29/2018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9226BF-1F13-42D3-80DC-373E7ADD1E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1403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AEF76B-3757-4A0B-AF93-28494465C1DD}" type="datetimeFigureOut">
              <a:rPr lang="en-US" smtClean="0"/>
              <a:pPr/>
              <a:t>5/29/2018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693FD4-8F83-4EF7-AC3F-0DC0388986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608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EAC7D-5A89-47C2-8ABA-56C9C2DEF7A4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3" y="0"/>
            <a:ext cx="9100457" cy="68797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90800" y="2286000"/>
            <a:ext cx="6180224" cy="1470025"/>
          </a:xfrm>
        </p:spPr>
        <p:txBody>
          <a:bodyPr anchor="t"/>
          <a:lstStyle>
            <a:lvl1pPr algn="r">
              <a:defRPr b="1" cap="small" baseline="0">
                <a:solidFill>
                  <a:srgbClr val="0033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400" y="4038600"/>
            <a:ext cx="4772528" cy="990600"/>
          </a:xfrm>
        </p:spPr>
        <p:txBody>
          <a:bodyPr>
            <a:normAutofit/>
          </a:bodyPr>
          <a:lstStyle>
            <a:lvl1pPr marL="0" indent="0" algn="r">
              <a:buNone/>
              <a:defRPr sz="2000" b="0">
                <a:solidFill>
                  <a:schemeClr val="tx1"/>
                </a:solidFill>
                <a:latin typeface="Georgia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251"/>
            <a:ext cx="3721618" cy="6858000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5105400"/>
            <a:ext cx="1828800" cy="990600"/>
          </a:xfrm>
        </p:spPr>
        <p:txBody>
          <a:bodyPr>
            <a:normAutofit/>
          </a:bodyPr>
          <a:lstStyle>
            <a:lvl1pPr marL="0" indent="0" algn="ctr">
              <a:buNone/>
              <a:defRPr sz="2000" baseline="0"/>
            </a:lvl1pPr>
          </a:lstStyle>
          <a:p>
            <a:r>
              <a:rPr lang="en-US" dirty="0"/>
              <a:t>Company Logo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3" y="0"/>
            <a:ext cx="9100457" cy="687977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161049" y="-3176815"/>
            <a:ext cx="2819400" cy="91730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3048000"/>
            <a:ext cx="4343400" cy="1362075"/>
          </a:xfrm>
        </p:spPr>
        <p:txBody>
          <a:bodyPr anchor="b" anchorCtr="0"/>
          <a:lstStyle>
            <a:lvl1pPr algn="l">
              <a:defRPr sz="4000" b="1" cap="small" baseline="0">
                <a:solidFill>
                  <a:srgbClr val="0033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5/29/2018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6781800" y="5334000"/>
            <a:ext cx="2133600" cy="9906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Company Logo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269632"/>
            <a:ext cx="8077200" cy="1143000"/>
          </a:xfrm>
        </p:spPr>
        <p:txBody>
          <a:bodyPr anchor="ctr" anchorCtr="0"/>
          <a:lstStyle>
            <a:lvl1pPr algn="l">
              <a:defRPr lang="en-US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596413"/>
            <a:ext cx="8077200" cy="4297363"/>
          </a:xfrm>
        </p:spPr>
        <p:txBody>
          <a:bodyPr>
            <a:normAutofit/>
          </a:bodyPr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4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5/29/2018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05600" y="6356350"/>
            <a:ext cx="2133600" cy="365125"/>
          </a:xfrm>
        </p:spPr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5/29/2018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736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736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5/29/2018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36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5/29/2018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5/29/2018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5/29/2018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274638"/>
            <a:ext cx="5867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5/29/2018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5/29/2018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5/29/2018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3" y="0"/>
            <a:ext cx="9100457" cy="6879771"/>
          </a:xfrm>
          <a:prstGeom prst="rect">
            <a:avLst/>
          </a:prstGeom>
        </p:spPr>
      </p:pic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0" y="6356350"/>
            <a:ext cx="2133600" cy="365125"/>
          </a:xfrm>
        </p:spPr>
        <p:txBody>
          <a:bodyPr/>
          <a:lstStyle/>
          <a:p>
            <a:fld id="{757B281C-5159-4971-8228-52B9A72E9ED2}" type="datetimeFigureOut">
              <a:rPr lang="en-US" smtClean="0"/>
              <a:pPr/>
              <a:t>5/29/2018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2800" y="6356350"/>
            <a:ext cx="28956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05600" y="6356350"/>
            <a:ext cx="2133600" cy="365125"/>
          </a:xfrm>
        </p:spPr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3" y="0"/>
            <a:ext cx="9100457" cy="687977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8077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00200"/>
            <a:ext cx="8077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7B281C-5159-4971-8228-52B9A72E9ED2}" type="datetimeFigureOut">
              <a:rPr lang="en-US" smtClean="0"/>
              <a:pPr/>
              <a:t>5/29/2018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528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056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52400" y="-109183"/>
            <a:ext cx="818707" cy="708318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  <p:sldLayoutId id="2147483656" r:id="rId6"/>
    <p:sldLayoutId id="2147483657" r:id="rId7"/>
    <p:sldLayoutId id="2147483658" r:id="rId8"/>
    <p:sldLayoutId id="2147483659" r:id="rId9"/>
    <p:sldLayoutId id="2147483654" r:id="rId10"/>
    <p:sldLayoutId id="2147483655" r:id="rId11"/>
    <p:sldLayoutId id="2147483663" r:id="rId12"/>
  </p:sldLayoutIdLst>
  <p:transition spd="slow">
    <p:wipe dir="d"/>
  </p:transition>
  <p:txStyles>
    <p:titleStyle>
      <a:lvl1pPr algn="l" defTabSz="914400" rtl="0" eaLnBrk="1" latinLnBrk="0" hangingPunct="1">
        <a:spcBef>
          <a:spcPct val="0"/>
        </a:spcBef>
        <a:buNone/>
        <a:defRPr lang="en-US" sz="4400" kern="1200" dirty="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0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bricks-prod-cloudfront.cloud.databricks.com/public/4027ec902e239c93eaaa8714f173bcfc/2961012104553482/1430974153588517/1806228006848429/latest.html" TargetMode="External"/><Relationship Id="rId2" Type="http://schemas.openxmlformats.org/officeDocument/2006/relationships/hyperlink" Target="https://accounts.cloud.databricks.com/registration.html#signup/community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133600" y="1600200"/>
            <a:ext cx="6637424" cy="1470025"/>
          </a:xfrm>
        </p:spPr>
        <p:txBody>
          <a:bodyPr>
            <a:noAutofit/>
          </a:bodyPr>
          <a:lstStyle/>
          <a:p>
            <a:r>
              <a:rPr lang="en-US" sz="6000" dirty="0" smtClean="0">
                <a:solidFill>
                  <a:schemeClr val="tx2"/>
                </a:solidFill>
              </a:rPr>
              <a:t>Deep Learning</a:t>
            </a:r>
            <a:endParaRPr lang="en-US" sz="6000" dirty="0">
              <a:solidFill>
                <a:schemeClr val="tx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4191000" y="3581400"/>
            <a:ext cx="4772528" cy="1447800"/>
          </a:xfrm>
        </p:spPr>
        <p:txBody>
          <a:bodyPr>
            <a:normAutofit/>
          </a:bodyPr>
          <a:lstStyle/>
          <a:p>
            <a:r>
              <a:rPr lang="en-US" sz="3600" b="1" cap="small" dirty="0">
                <a:solidFill>
                  <a:srgbClr val="003300"/>
                </a:solidFill>
                <a:latin typeface="+mj-lt"/>
                <a:ea typeface="+mj-ea"/>
                <a:cs typeface="+mj-cs"/>
              </a:rPr>
              <a:t>The New Tool in Data Scientist’s Tool Box </a:t>
            </a:r>
          </a:p>
        </p:txBody>
      </p:sp>
    </p:spTree>
    <p:custDataLst>
      <p:tags r:id="rId1"/>
    </p:custData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 Little Bit About Deep Learning History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805782"/>
      </p:ext>
    </p:extLst>
  </p:cSld>
  <p:clrMapOvr>
    <a:masterClrMapping/>
  </p:clrMapOvr>
  <p:transition spd="slow"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 smtClean="0">
                <a:solidFill>
                  <a:schemeClr val="accent2"/>
                </a:solidFill>
              </a:rPr>
              <a:t>Simple Feed Forward </a:t>
            </a:r>
            <a:r>
              <a:rPr lang="en-US" sz="3600" dirty="0">
                <a:solidFill>
                  <a:schemeClr val="accent2"/>
                </a:solidFill>
              </a:rPr>
              <a:t>Neural </a:t>
            </a:r>
            <a:r>
              <a:rPr lang="en-US" sz="3600" dirty="0" smtClean="0">
                <a:solidFill>
                  <a:schemeClr val="accent2"/>
                </a:solidFill>
              </a:rPr>
              <a:t>Network (FFNN)</a:t>
            </a:r>
            <a:endParaRPr lang="en-US" sz="3600" dirty="0">
              <a:solidFill>
                <a:schemeClr val="accent2"/>
              </a:solidFill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1104851" y="1219418"/>
            <a:ext cx="2819400" cy="3390900"/>
            <a:chOff x="1295400" y="1600200"/>
            <a:chExt cx="2819400" cy="3390900"/>
          </a:xfrm>
        </p:grpSpPr>
        <p:pic>
          <p:nvPicPr>
            <p:cNvPr id="1026" name="Picture 2" descr="https://upload.wikimedia.org/wikipedia/commons/thumb/4/46/Colored_neural_network.svg/296px-Colored_neural_network.svg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5400" y="1600200"/>
              <a:ext cx="2819400" cy="33909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5" name="Group 4"/>
            <p:cNvGrpSpPr/>
            <p:nvPr/>
          </p:nvGrpSpPr>
          <p:grpSpPr>
            <a:xfrm>
              <a:off x="1447800" y="1905000"/>
              <a:ext cx="2567837" cy="2814651"/>
              <a:chOff x="1447800" y="1905000"/>
              <a:chExt cx="2567837" cy="281465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/>
                  <p:cNvSpPr txBox="1"/>
                  <p:nvPr/>
                </p:nvSpPr>
                <p:spPr>
                  <a:xfrm>
                    <a:off x="1447800" y="2362200"/>
                    <a:ext cx="27610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" name="TextBox 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7800" y="2362200"/>
                    <a:ext cx="276101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3333" r="-6667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/>
                  <p:cNvSpPr txBox="1"/>
                  <p:nvPr/>
                </p:nvSpPr>
                <p:spPr>
                  <a:xfrm>
                    <a:off x="1447800" y="3157150"/>
                    <a:ext cx="281423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0" name="TextBox 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7800" y="3157150"/>
                    <a:ext cx="281423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3043" r="-6522" b="-1521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/>
                  <p:cNvSpPr txBox="1"/>
                  <p:nvPr/>
                </p:nvSpPr>
                <p:spPr>
                  <a:xfrm>
                    <a:off x="1447800" y="3964390"/>
                    <a:ext cx="281423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1" name="TextBox 1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7800" y="3964390"/>
                    <a:ext cx="281423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3043" r="-6522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/>
                  <p:cNvSpPr txBox="1"/>
                  <p:nvPr/>
                </p:nvSpPr>
                <p:spPr>
                  <a:xfrm>
                    <a:off x="3733800" y="2743200"/>
                    <a:ext cx="27776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2" name="TextBox 1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33800" y="2743200"/>
                    <a:ext cx="277768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2222" r="-6667" b="-2391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3732546" y="3590151"/>
                    <a:ext cx="28309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32546" y="3590151"/>
                    <a:ext cx="283091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21739" r="-6522" b="-2391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/>
                  <p:cNvSpPr txBox="1"/>
                  <p:nvPr/>
                </p:nvSpPr>
                <p:spPr>
                  <a:xfrm>
                    <a:off x="2567049" y="1905000"/>
                    <a:ext cx="283154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4" name="TextBox 1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67049" y="1905000"/>
                    <a:ext cx="283154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21277" r="-6383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/>
                  <p:cNvSpPr txBox="1"/>
                  <p:nvPr/>
                </p:nvSpPr>
                <p:spPr>
                  <a:xfrm>
                    <a:off x="2585459" y="2743199"/>
                    <a:ext cx="288477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5" name="TextBox 1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85459" y="2743199"/>
                    <a:ext cx="288477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20833" r="-6250" b="-1521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2567049" y="3573261"/>
                    <a:ext cx="288477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67049" y="3573261"/>
                    <a:ext cx="288477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20833" r="-6250" b="-1521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Box 16"/>
                  <p:cNvSpPr txBox="1"/>
                  <p:nvPr/>
                </p:nvSpPr>
                <p:spPr>
                  <a:xfrm>
                    <a:off x="2567048" y="4442652"/>
                    <a:ext cx="288477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7" name="TextBox 1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67048" y="4442652"/>
                    <a:ext cx="288477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20833" r="-6250" b="-1777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284308" y="1834215"/>
                <a:ext cx="3755452" cy="8917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=1,2,3,4</m:t>
                      </m:r>
                    </m:oMath>
                  </m:oMathPara>
                </a14:m>
                <a:endParaRPr lang="en-US" b="0" dirty="0" smtClean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4308" y="1834215"/>
                <a:ext cx="3755452" cy="89171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4294140" y="2876343"/>
                <a:ext cx="3567002" cy="8917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=1,2</m:t>
                      </m:r>
                    </m:oMath>
                  </m:oMathPara>
                </a14:m>
                <a:endParaRPr lang="en-US" b="0" dirty="0" smtClean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4140" y="2876343"/>
                <a:ext cx="3567002" cy="89171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/>
          <p:cNvGrpSpPr/>
          <p:nvPr/>
        </p:nvGrpSpPr>
        <p:grpSpPr>
          <a:xfrm>
            <a:off x="1404076" y="4751990"/>
            <a:ext cx="5475794" cy="1040397"/>
            <a:chOff x="1075516" y="5056856"/>
            <a:chExt cx="5475794" cy="10403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1081029" y="5082454"/>
                  <a:ext cx="112877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1029" y="5082454"/>
                  <a:ext cx="1128771" cy="276999"/>
                </a:xfrm>
                <a:prstGeom prst="rect">
                  <a:avLst/>
                </a:prstGeom>
                <a:blipFill>
                  <a:blip r:embed="rId14"/>
                  <a:stretch>
                    <a:fillRect r="-2151" b="-1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TextBox 17"/>
            <p:cNvSpPr txBox="1"/>
            <p:nvPr/>
          </p:nvSpPr>
          <p:spPr>
            <a:xfrm>
              <a:off x="2209800" y="5056856"/>
              <a:ext cx="41032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Input features vector for one observation </a:t>
              </a:r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/>
                <p:cNvSpPr txBox="1"/>
                <p:nvPr/>
              </p:nvSpPr>
              <p:spPr>
                <a:xfrm>
                  <a:off x="1395791" y="5450922"/>
                  <a:ext cx="77726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5791" y="5450922"/>
                  <a:ext cx="777264" cy="276999"/>
                </a:xfrm>
                <a:prstGeom prst="rect">
                  <a:avLst/>
                </a:prstGeom>
                <a:blipFill>
                  <a:blip r:embed="rId15"/>
                  <a:stretch>
                    <a:fillRect r="-3125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TextBox 24"/>
            <p:cNvSpPr txBox="1"/>
            <p:nvPr/>
          </p:nvSpPr>
          <p:spPr>
            <a:xfrm>
              <a:off x="2209800" y="5410200"/>
              <a:ext cx="43415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Actual output outcome for one observation </a:t>
              </a:r>
              <a:endParaRPr 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1075516" y="5808977"/>
                  <a:ext cx="110555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5516" y="5808977"/>
                  <a:ext cx="1105559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7143" t="-2222" r="-2198" b="-3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TextBox 27"/>
            <p:cNvSpPr txBox="1"/>
            <p:nvPr/>
          </p:nvSpPr>
          <p:spPr>
            <a:xfrm>
              <a:off x="2209800" y="5727921"/>
              <a:ext cx="38436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Activation functions, usually non-linear</a:t>
              </a:r>
              <a:endParaRPr lang="en-US" dirty="0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1191004" y="6325179"/>
            <a:ext cx="6677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Total number of parameters (i.e. size of a NN): (3+1)*4 + (4+1)*2 = 26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343400" y="1278713"/>
            <a:ext cx="3424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Concepts stated as early as 1940s!</a:t>
            </a:r>
            <a:endParaRPr 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1114504" y="5863080"/>
                <a:ext cx="13871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504" y="5863080"/>
                <a:ext cx="1387111" cy="276999"/>
              </a:xfrm>
              <a:prstGeom prst="rect">
                <a:avLst/>
              </a:prstGeom>
              <a:blipFill>
                <a:blip r:embed="rId17"/>
                <a:stretch>
                  <a:fillRect l="-3965" t="-26667" r="-220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2527714" y="5807339"/>
                <a:ext cx="49824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Loss function where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 smtClean="0"/>
                  <a:t> the model forecast response</a:t>
                </a:r>
                <a:endParaRPr lang="en-US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7714" y="5807339"/>
                <a:ext cx="4982454" cy="369332"/>
              </a:xfrm>
              <a:prstGeom prst="rect">
                <a:avLst/>
              </a:prstGeom>
              <a:blipFill>
                <a:blip r:embed="rId18"/>
                <a:stretch>
                  <a:fillRect l="-1102" t="-10000" r="-3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43400" y="4044469"/>
                <a:ext cx="21022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400" y="4044469"/>
                <a:ext cx="2102242" cy="276999"/>
              </a:xfrm>
              <a:prstGeom prst="rect">
                <a:avLst/>
              </a:prstGeom>
              <a:blipFill>
                <a:blip r:embed="rId19"/>
                <a:stretch>
                  <a:fillRect l="-1453" t="-2174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5203472"/>
      </p:ext>
    </p:extLst>
  </p:cSld>
  <p:clrMapOvr>
    <a:masterClrMapping/>
  </p:clrMapOvr>
  <p:transition spd="slow">
    <p:wipe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269632"/>
            <a:ext cx="8077200" cy="11430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accent2"/>
                </a:solidFill>
              </a:rPr>
              <a:t>Typical Loss Functions</a:t>
            </a:r>
            <a:endParaRPr lang="en-US" sz="3600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6916" y="1219200"/>
                <a:ext cx="8077200" cy="5715000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2000" dirty="0" smtClean="0"/>
                  <a:t>Two-class </a:t>
                </a:r>
                <a:r>
                  <a:rPr lang="en-US" sz="2000" dirty="0" smtClean="0"/>
                  <a:t>binary responses</a:t>
                </a:r>
              </a:p>
              <a:p>
                <a:pPr lvl="1">
                  <a:buFont typeface="Wingdings" panose="05000000000000000000" pitchFamily="2" charset="2"/>
                  <a:buChar char="ü"/>
                </a:pPr>
                <a:r>
                  <a:rPr lang="en-US" sz="1600" dirty="0" smtClean="0"/>
                  <a:t>Binary cross-entropy: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  <m:d>
                                <m:d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  <m:d>
                                <m:d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sz="1600" dirty="0" smtClean="0"/>
              </a:p>
              <a:p>
                <a:pPr marL="457200" lvl="1" indent="0">
                  <a:buNone/>
                </a:pPr>
                <a:r>
                  <a:rPr lang="en-US" sz="1600" dirty="0" smtClean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 smtClean="0"/>
                  <a:t> is actual value of 1 or 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 smtClean="0"/>
                  <a:t> is the predicted probability of being </a:t>
                </a:r>
                <a:r>
                  <a:rPr lang="en-US" sz="1600" dirty="0" smtClean="0"/>
                  <a:t>1, </a:t>
                </a:r>
                <a:r>
                  <a:rPr lang="en-US" sz="1600" dirty="0" smtClean="0"/>
                  <a:t>and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600" dirty="0" smtClean="0"/>
                  <a:t> is the total number of observations in the training data.</a:t>
                </a:r>
              </a:p>
              <a:p>
                <a:pPr marL="457200" lvl="1" indent="0">
                  <a:buNone/>
                </a:pPr>
                <a:endParaRPr lang="en-US" sz="1100" dirty="0" smtClean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2000" dirty="0" smtClean="0"/>
                  <a:t>Multiple-class </a:t>
                </a:r>
                <a:r>
                  <a:rPr lang="en-US" sz="2000" dirty="0" smtClean="0"/>
                  <a:t>responses</a:t>
                </a:r>
              </a:p>
              <a:p>
                <a:pPr lvl="1">
                  <a:buFont typeface="Wingdings" panose="05000000000000000000" pitchFamily="2" charset="2"/>
                  <a:buChar char="ü"/>
                </a:pPr>
                <a:r>
                  <a:rPr lang="en-US" sz="1600" dirty="0" smtClean="0"/>
                  <a:t>Categorical cross-entropy for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600" dirty="0" smtClean="0"/>
                  <a:t> classes: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𝑙𝑜𝑔</m:t>
                                  </m:r>
                                  <m:d>
                                    <m:d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6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d>
                        </m:e>
                      </m:nary>
                    </m:oMath>
                  </m:oMathPara>
                </a14:m>
                <a:endParaRPr lang="en-US" sz="1600" dirty="0" smtClean="0"/>
              </a:p>
              <a:p>
                <a:pPr marL="457200" lvl="1" indent="0">
                  <a:buNone/>
                </a:pPr>
                <a:r>
                  <a:rPr lang="en-US" sz="16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600" dirty="0"/>
                  <a:t> is actual value of 1 or </a:t>
                </a:r>
                <a:r>
                  <a:rPr lang="en-US" sz="1600" dirty="0" smtClean="0"/>
                  <a:t>0 for a class of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16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600" dirty="0"/>
                  <a:t> is the predicted probability of being </a:t>
                </a:r>
                <a:r>
                  <a:rPr lang="en-US" sz="1600" dirty="0" smtClean="0"/>
                  <a:t>at class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1600" dirty="0" smtClean="0"/>
                  <a:t> </a:t>
                </a:r>
                <a:r>
                  <a:rPr lang="en-US" sz="1600" dirty="0"/>
                  <a:t>and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600" dirty="0"/>
                  <a:t> is the total number of observations in the training data</a:t>
                </a:r>
                <a:r>
                  <a:rPr lang="en-US" sz="1600" dirty="0" smtClean="0"/>
                  <a:t>.</a:t>
                </a:r>
              </a:p>
              <a:p>
                <a:pPr marL="457200" lvl="1" indent="0">
                  <a:buNone/>
                </a:pPr>
                <a:endParaRPr lang="en-US" sz="1100" dirty="0" smtClean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2000" dirty="0"/>
                  <a:t>Continuous </a:t>
                </a:r>
                <a:r>
                  <a:rPr lang="en-US" sz="2000" dirty="0" smtClean="0"/>
                  <a:t>responses</a:t>
                </a:r>
              </a:p>
              <a:p>
                <a:pPr lvl="1">
                  <a:buFont typeface="Wingdings" panose="05000000000000000000" pitchFamily="2" charset="2"/>
                  <a:buChar char="ü"/>
                </a:pPr>
                <a:r>
                  <a:rPr lang="en-US" sz="1600" dirty="0" smtClean="0"/>
                  <a:t>Mean square error</a:t>
                </a:r>
              </a:p>
              <a:p>
                <a:pPr lvl="1">
                  <a:buFont typeface="Wingdings" panose="05000000000000000000" pitchFamily="2" charset="2"/>
                  <a:buChar char="ü"/>
                </a:pPr>
                <a:r>
                  <a:rPr lang="en-US" sz="1600" dirty="0"/>
                  <a:t>M</a:t>
                </a:r>
                <a:r>
                  <a:rPr lang="en-US" sz="1600" dirty="0" smtClean="0"/>
                  <a:t>ean absolute error</a:t>
                </a:r>
              </a:p>
              <a:p>
                <a:pPr lvl="1">
                  <a:buFont typeface="Wingdings" panose="05000000000000000000" pitchFamily="2" charset="2"/>
                  <a:buChar char="ü"/>
                </a:pPr>
                <a:r>
                  <a:rPr lang="en-US" sz="1600" dirty="0" smtClean="0"/>
                  <a:t>Mean absolute percentage error</a:t>
                </a:r>
              </a:p>
              <a:p>
                <a:pPr lvl="1">
                  <a:buFont typeface="Wingdings" panose="05000000000000000000" pitchFamily="2" charset="2"/>
                  <a:buChar char="q"/>
                </a:pPr>
                <a:endParaRPr lang="en-US" sz="1600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6916" y="1219200"/>
                <a:ext cx="8077200" cy="5715000"/>
              </a:xfrm>
              <a:blipFill>
                <a:blip r:embed="rId2"/>
                <a:stretch>
                  <a:fillRect l="-679" t="-5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115819"/>
      </p:ext>
    </p:extLst>
  </p:cSld>
  <p:clrMapOvr>
    <a:masterClrMapping/>
  </p:clrMapOvr>
  <p:transition spd="slow"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accent2"/>
                </a:solidFill>
              </a:rPr>
              <a:t>From Slow Progress to Wide Adoption</a:t>
            </a:r>
            <a:endParaRPr lang="en-US" sz="3600" dirty="0">
              <a:solidFill>
                <a:schemeClr val="accent2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134EB7A-4CA3-4E27-A254-01A6C630DAB4}"/>
              </a:ext>
            </a:extLst>
          </p:cNvPr>
          <p:cNvSpPr txBox="1"/>
          <p:nvPr/>
        </p:nvSpPr>
        <p:spPr>
          <a:xfrm>
            <a:off x="762000" y="1295400"/>
            <a:ext cx="816997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tx2"/>
                </a:solidFill>
              </a:rPr>
              <a:t>1940s – 1980s,  </a:t>
            </a:r>
            <a:r>
              <a:rPr lang="en-US" b="1" dirty="0">
                <a:solidFill>
                  <a:schemeClr val="tx2"/>
                </a:solidFill>
              </a:rPr>
              <a:t>v</a:t>
            </a:r>
            <a:r>
              <a:rPr lang="en-US" b="1" dirty="0" smtClean="0">
                <a:solidFill>
                  <a:schemeClr val="tx2"/>
                </a:solidFill>
              </a:rPr>
              <a:t>ery slow progress due to: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>
                <a:solidFill>
                  <a:schemeClr val="tx2"/>
                </a:solidFill>
              </a:rPr>
              <a:t>Computation hardware capacity limitation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>
                <a:solidFill>
                  <a:schemeClr val="tx2"/>
                </a:solidFill>
              </a:rPr>
              <a:t>Number of observations with labeled results in the dataset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>
                <a:solidFill>
                  <a:schemeClr val="tx2"/>
                </a:solidFill>
              </a:rPr>
              <a:t>Lack efficient algorithm to estimate the parameters in the model</a:t>
            </a:r>
          </a:p>
          <a:p>
            <a:endParaRPr lang="en-US" b="1" dirty="0">
              <a:solidFill>
                <a:schemeClr val="tx2"/>
              </a:solidFill>
            </a:endParaRPr>
          </a:p>
          <a:p>
            <a:r>
              <a:rPr lang="en-US" b="1" dirty="0" smtClean="0">
                <a:solidFill>
                  <a:schemeClr val="tx2"/>
                </a:solidFill>
              </a:rPr>
              <a:t>1980s – 2010, a few applications in real word due to: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b="1" dirty="0" smtClean="0">
                <a:solidFill>
                  <a:srgbClr val="1F497D"/>
                </a:solidFill>
              </a:rPr>
              <a:t>Moore’s Law + GPU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b="1" dirty="0" smtClean="0">
                <a:solidFill>
                  <a:srgbClr val="1F497D"/>
                </a:solidFill>
              </a:rPr>
              <a:t>Internet generated large labeled dataset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b="1" dirty="0" smtClean="0">
                <a:solidFill>
                  <a:srgbClr val="1F497D"/>
                </a:solidFill>
              </a:rPr>
              <a:t>Efficient algorithm for optimization and better activation functions</a:t>
            </a:r>
            <a:endParaRPr lang="en-US" b="1" dirty="0">
              <a:solidFill>
                <a:srgbClr val="1F497D"/>
              </a:solidFill>
            </a:endParaRPr>
          </a:p>
          <a:p>
            <a:endParaRPr lang="en-US" b="1" dirty="0" smtClean="0">
              <a:solidFill>
                <a:schemeClr val="tx2"/>
              </a:solidFill>
            </a:endParaRPr>
          </a:p>
          <a:p>
            <a:r>
              <a:rPr lang="en-US" b="1" dirty="0" smtClean="0">
                <a:solidFill>
                  <a:schemeClr val="tx2"/>
                </a:solidFill>
              </a:rPr>
              <a:t>2010-Now, very broad application in various areas: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b="1" dirty="0" smtClean="0">
                <a:solidFill>
                  <a:srgbClr val="1F497D"/>
                </a:solidFill>
              </a:rPr>
              <a:t>Near-human-level image classification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b="1" dirty="0" smtClean="0">
                <a:solidFill>
                  <a:srgbClr val="1F497D"/>
                </a:solidFill>
              </a:rPr>
              <a:t>Near-human-level handwriting transcription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>
                <a:solidFill>
                  <a:srgbClr val="1F497D"/>
                </a:solidFill>
              </a:rPr>
              <a:t>Much improved speech recognition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b="1" dirty="0" smtClean="0">
                <a:solidFill>
                  <a:srgbClr val="1F497D"/>
                </a:solidFill>
              </a:rPr>
              <a:t>Much improved machine translation</a:t>
            </a:r>
            <a:endParaRPr lang="en-US" b="1" dirty="0">
              <a:solidFill>
                <a:srgbClr val="1F497D"/>
              </a:solidFill>
            </a:endParaRPr>
          </a:p>
          <a:p>
            <a:endParaRPr lang="en-US" b="1" dirty="0" smtClean="0">
              <a:solidFill>
                <a:schemeClr val="tx2"/>
              </a:solidFill>
            </a:endParaRPr>
          </a:p>
          <a:p>
            <a:r>
              <a:rPr lang="en-US" b="1" dirty="0" smtClean="0">
                <a:solidFill>
                  <a:srgbClr val="1F497D"/>
                </a:solidFill>
              </a:rPr>
              <a:t>Now we know working neural network models usually contains </a:t>
            </a:r>
            <a:r>
              <a:rPr lang="en-US" b="1" dirty="0" smtClean="0">
                <a:solidFill>
                  <a:srgbClr val="FF0000"/>
                </a:solidFill>
              </a:rPr>
              <a:t>many layers </a:t>
            </a:r>
            <a:r>
              <a:rPr lang="en-US" b="1" dirty="0" smtClean="0">
                <a:solidFill>
                  <a:srgbClr val="1F497D"/>
                </a:solidFill>
              </a:rPr>
              <a:t>(i.e. the depth of the network is </a:t>
            </a:r>
            <a:r>
              <a:rPr lang="en-US" b="1" dirty="0" smtClean="0">
                <a:solidFill>
                  <a:srgbClr val="FF0000"/>
                </a:solidFill>
              </a:rPr>
              <a:t>deep</a:t>
            </a:r>
            <a:r>
              <a:rPr lang="en-US" b="1" dirty="0" smtClean="0">
                <a:solidFill>
                  <a:srgbClr val="1F497D"/>
                </a:solidFill>
              </a:rPr>
              <a:t>), and to achieve near-human-level accuracy the deep neural network need </a:t>
            </a:r>
            <a:r>
              <a:rPr lang="en-US" b="1" dirty="0" smtClean="0">
                <a:solidFill>
                  <a:srgbClr val="FF0000"/>
                </a:solidFill>
              </a:rPr>
              <a:t>huge training dataset </a:t>
            </a:r>
            <a:r>
              <a:rPr lang="en-US" b="1" dirty="0" smtClean="0">
                <a:solidFill>
                  <a:srgbClr val="1F497D"/>
                </a:solidFill>
              </a:rPr>
              <a:t>(for example millions of labeled pictures for image classification problem).</a:t>
            </a:r>
            <a:endParaRPr lang="en-US" b="1" dirty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5334415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269632"/>
            <a:ext cx="8077200" cy="11430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accent2"/>
                </a:solidFill>
              </a:rPr>
              <a:t>Optimization Methods</a:t>
            </a:r>
            <a:endParaRPr lang="en-US" sz="3600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6916" y="1219200"/>
                <a:ext cx="8077200" cy="2667000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2000" dirty="0" smtClean="0"/>
                  <a:t>Mini-batch Stochastic Gradient Descent (SGD)</a:t>
                </a:r>
              </a:p>
              <a:p>
                <a:pPr lvl="1">
                  <a:buFont typeface="Wingdings" panose="05000000000000000000" pitchFamily="2" charset="2"/>
                  <a:buChar char="q"/>
                </a:pPr>
                <a:r>
                  <a:rPr lang="en-US" sz="1800" dirty="0" smtClean="0"/>
                  <a:t>Use </a:t>
                </a:r>
                <a:r>
                  <a:rPr lang="en-US" sz="1800" b="1" dirty="0" smtClean="0">
                    <a:solidFill>
                      <a:srgbClr val="FF0000"/>
                    </a:solidFill>
                  </a:rPr>
                  <a:t>a small segment of data </a:t>
                </a:r>
                <a:r>
                  <a:rPr lang="en-US" sz="1800" dirty="0" smtClean="0"/>
                  <a:t>(i.e. 128 or 256) to update the SGD parameters: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p>
                        </m:sSup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800" dirty="0" smtClean="0"/>
                  <a:t> where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800" dirty="0" smtClean="0"/>
                  <a:t> is the </a:t>
                </a:r>
                <a:r>
                  <a:rPr lang="en-US" sz="1800" b="1" dirty="0" smtClean="0">
                    <a:solidFill>
                      <a:srgbClr val="FF0000"/>
                    </a:solidFill>
                  </a:rPr>
                  <a:t>learning rate </a:t>
                </a:r>
                <a:r>
                  <a:rPr lang="en-US" sz="1800" dirty="0" smtClean="0"/>
                  <a:t>which is a hyper parameter that can be changed</a:t>
                </a:r>
              </a:p>
              <a:p>
                <a:pPr lvl="1">
                  <a:buFont typeface="Wingdings" panose="05000000000000000000" pitchFamily="2" charset="2"/>
                  <a:buChar char="q"/>
                </a:pPr>
                <a:r>
                  <a:rPr lang="en-US" sz="1800" dirty="0" smtClean="0"/>
                  <a:t>When the entire dataset are used to updated the SGD, it is called one </a:t>
                </a:r>
                <a:r>
                  <a:rPr lang="en-US" sz="1800" b="1" dirty="0" smtClean="0">
                    <a:solidFill>
                      <a:srgbClr val="FF0000"/>
                    </a:solidFill>
                  </a:rPr>
                  <a:t>epoch</a:t>
                </a:r>
                <a:r>
                  <a:rPr lang="en-US" sz="1800" dirty="0" smtClean="0"/>
                  <a:t> and multiple epochs are needed to run to reach convergence</a:t>
                </a:r>
              </a:p>
              <a:p>
                <a:pPr lvl="1">
                  <a:buFont typeface="Wingdings" panose="05000000000000000000" pitchFamily="2" charset="2"/>
                  <a:buChar char="q"/>
                </a:pPr>
                <a:r>
                  <a:rPr lang="en-US" sz="1800" dirty="0" smtClean="0"/>
                  <a:t>An updated version with ‘momentum’ for quick convergence:</a:t>
                </a:r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p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800" i="1" dirty="0" smtClean="0">
                  <a:latin typeface="Cambria Math" panose="02040503050406030204" pitchFamily="18" charset="0"/>
                </a:endParaRPr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6916" y="1219200"/>
                <a:ext cx="8077200" cy="2667000"/>
              </a:xfrm>
              <a:blipFill>
                <a:blip r:embed="rId2"/>
                <a:stretch>
                  <a:fillRect l="-679" t="-1142" r="-906" b="-22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/>
          <p:nvPr/>
        </p:nvGrpSpPr>
        <p:grpSpPr>
          <a:xfrm>
            <a:off x="1676400" y="3962400"/>
            <a:ext cx="5924704" cy="2895600"/>
            <a:chOff x="1676400" y="4267200"/>
            <a:chExt cx="5619904" cy="2514600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3"/>
            <a:srcRect t="1888" b="1"/>
            <a:stretch/>
          </p:blipFill>
          <p:spPr>
            <a:xfrm>
              <a:off x="1676400" y="4267200"/>
              <a:ext cx="5619904" cy="2514600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72200" y="4332620"/>
              <a:ext cx="876300" cy="7282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46900431"/>
      </p:ext>
    </p:extLst>
  </p:cSld>
  <p:clrMapOvr>
    <a:masterClrMapping/>
  </p:clrMapOvr>
  <p:transition spd="slow"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269632"/>
            <a:ext cx="8077200" cy="11430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accent2"/>
                </a:solidFill>
              </a:rPr>
              <a:t>Activation Functions</a:t>
            </a:r>
            <a:endParaRPr lang="en-US" sz="3600" dirty="0">
              <a:solidFill>
                <a:schemeClr val="accent2"/>
              </a:solidFill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38200" y="2099280"/>
            <a:ext cx="8077200" cy="324257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800" dirty="0" smtClean="0"/>
              <a:t>Intermediate layers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600" dirty="0" err="1" smtClean="0"/>
              <a:t>Relu</a:t>
            </a:r>
            <a:r>
              <a:rPr lang="en-US" sz="1600" dirty="0" smtClean="0"/>
              <a:t> (i.e. rectified linear unit) is usually a good choice which has the following good properties: (1) fast computation; (2) non-linear; (3</a:t>
            </a:r>
            <a:r>
              <a:rPr lang="en-US" sz="1600" dirty="0"/>
              <a:t>) reduced likelihood of the gradient to vanish; </a:t>
            </a:r>
            <a:r>
              <a:rPr lang="en-US" sz="1600" dirty="0" smtClean="0"/>
              <a:t>(4) Unconstrained response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600" dirty="0" smtClean="0"/>
              <a:t>Sigmoid, studied in the past, not as good as </a:t>
            </a:r>
            <a:r>
              <a:rPr lang="en-US" sz="1600" dirty="0" err="1" smtClean="0"/>
              <a:t>Relu</a:t>
            </a:r>
            <a:r>
              <a:rPr lang="en-US" sz="1600" dirty="0" smtClean="0"/>
              <a:t> in deep learning, due to the gradient vanishing problem when there are many layers</a:t>
            </a:r>
          </a:p>
          <a:p>
            <a:pPr marL="457200" lvl="1" indent="0">
              <a:buNone/>
            </a:pPr>
            <a:endParaRPr lang="en-US" sz="1100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 smtClean="0"/>
              <a:t>Last layer which connects to the output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600" dirty="0" smtClean="0"/>
              <a:t>Binary classification: sigmoid with binary cross entropy as loss function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600" dirty="0" smtClean="0"/>
              <a:t>Multiple class, single-label classification: </a:t>
            </a:r>
            <a:r>
              <a:rPr lang="en-US" sz="1600" dirty="0" err="1"/>
              <a:t>s</a:t>
            </a:r>
            <a:r>
              <a:rPr lang="en-US" sz="1600" dirty="0" err="1" smtClean="0"/>
              <a:t>oftmax</a:t>
            </a:r>
            <a:r>
              <a:rPr lang="en-US" sz="1600" dirty="0" smtClean="0"/>
              <a:t> </a:t>
            </a:r>
            <a:r>
              <a:rPr lang="en-US" sz="1600" dirty="0" smtClean="0"/>
              <a:t>with categorical cross entropy for loss function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600" dirty="0" smtClean="0"/>
              <a:t>Continuous responses: </a:t>
            </a:r>
            <a:r>
              <a:rPr lang="en-US" sz="1600" dirty="0" smtClean="0"/>
              <a:t>identity function (i.e. y </a:t>
            </a:r>
            <a:r>
              <a:rPr lang="en-US" sz="1600" dirty="0" smtClean="0"/>
              <a:t>= </a:t>
            </a:r>
            <a:r>
              <a:rPr lang="en-US" sz="1600" dirty="0" smtClean="0"/>
              <a:t>x)</a:t>
            </a:r>
            <a:endParaRPr lang="en-US" sz="1600" dirty="0" smtClean="0"/>
          </a:p>
          <a:p>
            <a:pPr lvl="1">
              <a:buFont typeface="Wingdings" panose="05000000000000000000" pitchFamily="2" charset="2"/>
              <a:buChar char="q"/>
            </a:pPr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486400"/>
            <a:ext cx="4114800" cy="54110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437" y="6172053"/>
            <a:ext cx="4149090" cy="65131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7031" y="5506718"/>
            <a:ext cx="3657600" cy="5277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066800" y="1399401"/>
                <a:ext cx="37135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 smtClean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1399401"/>
                <a:ext cx="3713581" cy="276999"/>
              </a:xfrm>
              <a:prstGeom prst="rect">
                <a:avLst/>
              </a:prstGeom>
              <a:blipFill>
                <a:blip r:embed="rId5"/>
                <a:stretch>
                  <a:fillRect l="-164" t="-4444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5791200" y="1212288"/>
                <a:ext cx="3124200" cy="58855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sz="2400" dirty="0" smtClean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…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0" y="1212288"/>
                <a:ext cx="3124200" cy="588559"/>
              </a:xfrm>
              <a:prstGeom prst="rect">
                <a:avLst/>
              </a:prstGeom>
              <a:blipFill>
                <a:blip r:embed="rId6"/>
                <a:stretch>
                  <a:fillRect b="-10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ight Arrow 2"/>
          <p:cNvSpPr/>
          <p:nvPr/>
        </p:nvSpPr>
        <p:spPr>
          <a:xfrm>
            <a:off x="4876800" y="1429791"/>
            <a:ext cx="6096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840048"/>
      </p:ext>
    </p:extLst>
  </p:cSld>
  <p:clrMapOvr>
    <a:masterClrMapping/>
  </p:clrMapOvr>
  <p:transition spd="slow"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269632"/>
            <a:ext cx="8077200" cy="11430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accent2"/>
                </a:solidFill>
              </a:rPr>
              <a:t>Deal With Overfitting</a:t>
            </a:r>
            <a:endParaRPr lang="en-US" sz="3600" dirty="0">
              <a:solidFill>
                <a:schemeClr val="accent2"/>
              </a:solidFill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66916" y="1219200"/>
            <a:ext cx="8077200" cy="525780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 dirty="0" smtClean="0"/>
              <a:t>Huge number of parameters, even with large amount of training data, there is a potential of overfitting </a:t>
            </a:r>
            <a:endParaRPr lang="en-US" sz="1800" dirty="0" smtClean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800" dirty="0" smtClean="0"/>
              <a:t>Overfitting due to size of the NN (i.e. total number of parameters)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800" dirty="0" smtClean="0"/>
              <a:t>Overfitting due to using the training data for too many epochs</a:t>
            </a:r>
          </a:p>
          <a:p>
            <a:pPr lvl="1">
              <a:buFont typeface="Wingdings" panose="05000000000000000000" pitchFamily="2" charset="2"/>
              <a:buChar char="q"/>
            </a:pPr>
            <a:endParaRPr lang="en-US" sz="18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200" dirty="0" smtClean="0"/>
              <a:t>Solution for overfitting due to NN size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800" dirty="0" smtClean="0"/>
              <a:t>Dropout: randomly dropout some proportion (such as 0.3 or 0.5) of nodes at each layer, which is similar to random forest concept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800" dirty="0" smtClean="0"/>
              <a:t>Using L1 or L2 regularization in the activation function at each layer </a:t>
            </a:r>
          </a:p>
          <a:p>
            <a:pPr lvl="1">
              <a:buFont typeface="Wingdings" panose="05000000000000000000" pitchFamily="2" charset="2"/>
              <a:buChar char="q"/>
            </a:pPr>
            <a:endParaRPr lang="en-US" sz="18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200" dirty="0" smtClean="0"/>
              <a:t>Solution for overfitting due to using too many epochs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800" dirty="0" smtClean="0"/>
              <a:t>Run NN with large number of epochs to reach overfitting region through cross validation from training/validation vs. epoch curve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800" dirty="0" smtClean="0"/>
              <a:t>Choose the model with number of epochs that have the minimum validation accuracy as the final NN model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557841054"/>
      </p:ext>
    </p:extLst>
  </p:cSld>
  <p:clrMapOvr>
    <a:masterClrMapping/>
  </p:clrMapOvr>
  <p:transition spd="slow"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269632"/>
            <a:ext cx="8077200" cy="11430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accent2"/>
                </a:solidFill>
              </a:rPr>
              <a:t>Recap of A Few Key Concepts</a:t>
            </a:r>
            <a:endParaRPr lang="en-US" sz="3600" dirty="0">
              <a:solidFill>
                <a:schemeClr val="accent2"/>
              </a:solidFill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919316" y="1371600"/>
            <a:ext cx="8077200" cy="5486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sz="1800" b="1" dirty="0"/>
              <a:t>Data</a:t>
            </a:r>
            <a:r>
              <a:rPr lang="en-US" sz="1800" dirty="0"/>
              <a:t>: </a:t>
            </a:r>
            <a:r>
              <a:rPr lang="en-US" sz="1800" dirty="0" smtClean="0"/>
              <a:t>Require large </a:t>
            </a:r>
            <a:r>
              <a:rPr lang="en-US" sz="1800" dirty="0" smtClean="0"/>
              <a:t>well-labeled </a:t>
            </a:r>
            <a:r>
              <a:rPr lang="en-US" sz="1800" dirty="0" smtClean="0"/>
              <a:t>dataset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18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1800" b="1" dirty="0"/>
              <a:t>Computation</a:t>
            </a:r>
            <a:r>
              <a:rPr lang="en-US" sz="1800" dirty="0"/>
              <a:t>: intensive matrix-matrix </a:t>
            </a:r>
            <a:r>
              <a:rPr lang="en-US" sz="1800" dirty="0" smtClean="0"/>
              <a:t>operation</a:t>
            </a:r>
            <a:endParaRPr lang="en-US" sz="1800" dirty="0"/>
          </a:p>
          <a:p>
            <a:pPr>
              <a:buFont typeface="Wingdings" panose="05000000000000000000" pitchFamily="2" charset="2"/>
              <a:buChar char="q"/>
            </a:pPr>
            <a:endParaRPr lang="en-US" sz="1800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sz="1800" b="1" dirty="0" smtClean="0"/>
              <a:t>Structure</a:t>
            </a:r>
            <a:r>
              <a:rPr lang="en-US" sz="1800" dirty="0" smtClean="0"/>
              <a:t> of fully connected feedforward NN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600" dirty="0" smtClean="0"/>
              <a:t>Size of the NN: total number of parameters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600" dirty="0" smtClean="0"/>
              <a:t>Depth: total number of layers (this is where deep learning comes from)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600" dirty="0" smtClean="0"/>
              <a:t>Width of a particular layer: number of nodes (i.e. neurons) in that layer</a:t>
            </a:r>
          </a:p>
          <a:p>
            <a:pPr lvl="1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sz="1800" b="1" dirty="0" smtClean="0"/>
              <a:t>Activation function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600" dirty="0" smtClean="0"/>
              <a:t>Intermediate layers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600" dirty="0" smtClean="0"/>
              <a:t>Last layer connecting to outputs</a:t>
            </a:r>
          </a:p>
          <a:p>
            <a:pPr lvl="1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sz="1800" b="1" dirty="0" smtClean="0"/>
              <a:t>Loss function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600" dirty="0" smtClean="0"/>
              <a:t>Classification (i.e. categorical response)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600" dirty="0" smtClean="0"/>
              <a:t>Regression (i.e. continuous response)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5572432" y="4114800"/>
            <a:ext cx="3581400" cy="2667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sz="1800" b="1" dirty="0" smtClean="0"/>
              <a:t>Optimization methods (SGD)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600" dirty="0" smtClean="0"/>
              <a:t>Batch size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600" dirty="0" smtClean="0"/>
              <a:t>Learning rate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600" dirty="0" smtClean="0"/>
              <a:t>Epoch</a:t>
            </a:r>
          </a:p>
          <a:p>
            <a:pPr lvl="1">
              <a:buFont typeface="Wingdings" panose="05000000000000000000" pitchFamily="2" charset="2"/>
              <a:buChar char="q"/>
            </a:pPr>
            <a:endParaRPr lang="en-US" sz="1600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sz="1800" b="1" dirty="0" smtClean="0"/>
              <a:t>Deal with overfitting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600" dirty="0" smtClean="0"/>
              <a:t>Dropout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600" dirty="0" smtClean="0"/>
              <a:t>Regularization (L1 or L2)</a:t>
            </a:r>
          </a:p>
        </p:txBody>
      </p:sp>
    </p:spTree>
    <p:extLst>
      <p:ext uri="{BB962C8B-B14F-4D97-AF65-F5344CB8AC3E}">
        <p14:creationId xmlns:p14="http://schemas.microsoft.com/office/powerpoint/2010/main" val="3582077083"/>
      </p:ext>
    </p:extLst>
  </p:cSld>
  <p:clrMapOvr>
    <a:masterClrMapping/>
  </p:clrMapOvr>
  <p:transition spd="slow"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0" y="3048000"/>
            <a:ext cx="4343400" cy="1362075"/>
          </a:xfrm>
        </p:spPr>
        <p:txBody>
          <a:bodyPr>
            <a:normAutofit/>
          </a:bodyPr>
          <a:lstStyle/>
          <a:p>
            <a:r>
              <a:rPr lang="en-US" sz="3600" dirty="0"/>
              <a:t>Deep Learning Models Across Platforms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178732486"/>
      </p:ext>
    </p:extLst>
  </p:cSld>
  <p:clrMapOvr>
    <a:masterClrMapping/>
  </p:clrMapOvr>
  <p:transition spd="slow">
    <p:wipe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665" y="1066800"/>
            <a:ext cx="9144000" cy="5791200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762000" y="269632"/>
            <a:ext cx="8077200" cy="11430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accent2"/>
                </a:solidFill>
              </a:rPr>
              <a:t>Open NN Exchange Format (ONNX)</a:t>
            </a:r>
            <a:endParaRPr lang="en-US" sz="36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9186862"/>
      </p:ext>
    </p:extLst>
  </p:cSld>
  <p:clrMapOvr>
    <a:masterClrMapping/>
  </p:clrMapOvr>
  <p:transition spd="slow"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The MNIST Dataset</a:t>
            </a:r>
            <a:endParaRPr lang="en-US" sz="3600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1072180982"/>
      </p:ext>
    </p:extLst>
  </p:cSld>
  <p:clrMapOvr>
    <a:masterClrMapping/>
  </p:clrMapOvr>
  <p:transition spd="slow">
    <p:wipe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accent2"/>
                </a:solidFill>
              </a:rPr>
              <a:t>MNIST Dataset</a:t>
            </a:r>
            <a:endParaRPr lang="en-US" sz="3600" dirty="0">
              <a:solidFill>
                <a:schemeClr val="accent2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134EB7A-4CA3-4E27-A254-01A6C630DAB4}"/>
              </a:ext>
            </a:extLst>
          </p:cNvPr>
          <p:cNvSpPr txBox="1"/>
          <p:nvPr/>
        </p:nvSpPr>
        <p:spPr>
          <a:xfrm>
            <a:off x="762000" y="1295400"/>
            <a:ext cx="816997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>
                <a:solidFill>
                  <a:schemeClr val="tx2"/>
                </a:solidFill>
              </a:rPr>
              <a:t>Originally created by NIST, then modified for machine leaning training purpose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>
                <a:solidFill>
                  <a:schemeClr val="tx2"/>
                </a:solidFill>
              </a:rPr>
              <a:t>Contains 70000 handwritten digit images and the label of the digit in the image where 60000 images are the training dataset and the rest 10000 images are the testing dataset.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2"/>
                </a:solidFill>
              </a:rPr>
              <a:t>Census Bureau employees and  American high school </a:t>
            </a:r>
            <a:r>
              <a:rPr lang="en-US" b="1" dirty="0" smtClean="0">
                <a:solidFill>
                  <a:schemeClr val="tx2"/>
                </a:solidFill>
              </a:rPr>
              <a:t>students wrote these digits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>
                <a:solidFill>
                  <a:schemeClr val="tx2"/>
                </a:solidFill>
              </a:rPr>
              <a:t>Each image is 28x28 pixel in greyscale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2"/>
                </a:solidFill>
              </a:rPr>
              <a:t>Yann </a:t>
            </a:r>
            <a:r>
              <a:rPr lang="en-US" b="1" dirty="0" err="1" smtClean="0">
                <a:solidFill>
                  <a:schemeClr val="tx2"/>
                </a:solidFill>
              </a:rPr>
              <a:t>LeCun</a:t>
            </a:r>
            <a:r>
              <a:rPr lang="en-US" b="1" dirty="0" smtClean="0">
                <a:solidFill>
                  <a:schemeClr val="tx2"/>
                </a:solidFill>
              </a:rPr>
              <a:t> </a:t>
            </a:r>
            <a:r>
              <a:rPr lang="en-US" b="1" dirty="0">
                <a:solidFill>
                  <a:schemeClr val="tx2"/>
                </a:solidFill>
              </a:rPr>
              <a:t>used convolutional network </a:t>
            </a:r>
            <a:r>
              <a:rPr lang="en-US" b="1" dirty="0" err="1" smtClean="0">
                <a:solidFill>
                  <a:schemeClr val="tx2"/>
                </a:solidFill>
              </a:rPr>
              <a:t>LeNet</a:t>
            </a:r>
            <a:r>
              <a:rPr lang="en-US" b="1" dirty="0" smtClean="0">
                <a:solidFill>
                  <a:schemeClr val="tx2"/>
                </a:solidFill>
              </a:rPr>
              <a:t> to achieve &lt; 1% error rate at 1990s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b="1" dirty="0" smtClean="0">
              <a:solidFill>
                <a:schemeClr val="tx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b="1" dirty="0" smtClean="0">
              <a:solidFill>
                <a:schemeClr val="tx2"/>
              </a:solidFill>
            </a:endParaRPr>
          </a:p>
          <a:p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1026" name="Picture 2" descr="MNIST sample images.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558404"/>
            <a:ext cx="5429250" cy="3299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4953278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0" y="3048000"/>
            <a:ext cx="4343400" cy="1362075"/>
          </a:xfrm>
        </p:spPr>
        <p:txBody>
          <a:bodyPr>
            <a:noAutofit/>
          </a:bodyPr>
          <a:lstStyle/>
          <a:p>
            <a:r>
              <a:rPr lang="en-US" sz="3600" dirty="0"/>
              <a:t>Using </a:t>
            </a:r>
            <a:r>
              <a:rPr lang="en-US" sz="3600" dirty="0" err="1"/>
              <a:t>Keras</a:t>
            </a:r>
            <a:r>
              <a:rPr lang="en-US" sz="3600" dirty="0"/>
              <a:t> R Package To Build Deep Neural Network Model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991538366"/>
      </p:ext>
    </p:extLst>
  </p:cSld>
  <p:clrMapOvr>
    <a:masterClrMapping/>
  </p:clrMapOvr>
  <p:transition spd="slow">
    <p:wipe dir="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accent2"/>
                </a:solidFill>
              </a:rPr>
              <a:t>Procedures</a:t>
            </a:r>
            <a:endParaRPr lang="en-US" sz="3600" dirty="0">
              <a:solidFill>
                <a:schemeClr val="accent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34EB7A-4CA3-4E27-A254-01A6C630DAB4}"/>
              </a:ext>
            </a:extLst>
          </p:cNvPr>
          <p:cNvSpPr txBox="1"/>
          <p:nvPr/>
        </p:nvSpPr>
        <p:spPr>
          <a:xfrm>
            <a:off x="762000" y="1295400"/>
            <a:ext cx="8169974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>
                <a:solidFill>
                  <a:schemeClr val="tx2"/>
                </a:solidFill>
              </a:rPr>
              <a:t>Data preprocessing (from image to list of input features)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600" b="1" dirty="0" smtClean="0">
                <a:solidFill>
                  <a:schemeClr val="tx2"/>
                </a:solidFill>
              </a:rPr>
              <a:t>One image of 28x28 grey scale value matrix </a:t>
            </a:r>
            <a:r>
              <a:rPr lang="en-US" sz="1600" b="1" dirty="0" smtClean="0">
                <a:solidFill>
                  <a:schemeClr val="tx2"/>
                </a:solidFill>
                <a:sym typeface="Wingdings" panose="05000000000000000000" pitchFamily="2" charset="2"/>
              </a:rPr>
              <a:t> 784 column of features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600" b="1" dirty="0" smtClean="0">
                <a:solidFill>
                  <a:schemeClr val="tx2"/>
                </a:solidFill>
                <a:sym typeface="Wingdings" panose="05000000000000000000" pitchFamily="2" charset="2"/>
              </a:rPr>
              <a:t>Scale the value to between 0 and 1, by divide each value by 255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600" b="1" dirty="0" smtClean="0">
                <a:solidFill>
                  <a:schemeClr val="tx2"/>
                </a:solidFill>
              </a:rPr>
              <a:t>Make response categorical (i.e. 10 columns with the corresponding digit column 1 and rest columns zero.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en-US" sz="1600" b="1" dirty="0" smtClean="0">
              <a:solidFill>
                <a:schemeClr val="tx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 smtClean="0">
                <a:solidFill>
                  <a:schemeClr val="tx2"/>
                </a:solidFill>
              </a:rPr>
              <a:t>Load </a:t>
            </a:r>
            <a:r>
              <a:rPr lang="en-US" b="1" dirty="0" err="1" smtClean="0">
                <a:solidFill>
                  <a:schemeClr val="tx2"/>
                </a:solidFill>
              </a:rPr>
              <a:t>keras</a:t>
            </a:r>
            <a:r>
              <a:rPr lang="en-US" b="1" dirty="0" smtClean="0">
                <a:solidFill>
                  <a:schemeClr val="tx2"/>
                </a:solidFill>
              </a:rPr>
              <a:t> package and build a neural network with a few layers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600" b="1" dirty="0" smtClean="0">
                <a:solidFill>
                  <a:schemeClr val="tx2"/>
                </a:solidFill>
              </a:rPr>
              <a:t>Define a placeholder object for the NN structure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600" b="1" dirty="0" smtClean="0">
                <a:solidFill>
                  <a:schemeClr val="tx2"/>
                </a:solidFill>
              </a:rPr>
              <a:t>1st layer using 256 nodes, fully connected, using ‘</a:t>
            </a:r>
            <a:r>
              <a:rPr lang="en-US" sz="1600" b="1" dirty="0" err="1" smtClean="0">
                <a:solidFill>
                  <a:schemeClr val="tx2"/>
                </a:solidFill>
              </a:rPr>
              <a:t>relu</a:t>
            </a:r>
            <a:r>
              <a:rPr lang="en-US" sz="1600" b="1" dirty="0">
                <a:solidFill>
                  <a:schemeClr val="tx2"/>
                </a:solidFill>
              </a:rPr>
              <a:t>’ activation </a:t>
            </a:r>
            <a:r>
              <a:rPr lang="en-US" sz="1600" b="1" dirty="0" smtClean="0">
                <a:solidFill>
                  <a:schemeClr val="tx2"/>
                </a:solidFill>
              </a:rPr>
              <a:t>function and connect from the input 784 features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600" b="1" dirty="0" smtClean="0">
                <a:solidFill>
                  <a:schemeClr val="tx2"/>
                </a:solidFill>
              </a:rPr>
              <a:t>2</a:t>
            </a:r>
            <a:r>
              <a:rPr lang="en-US" sz="1600" b="1" baseline="30000" dirty="0" smtClean="0">
                <a:solidFill>
                  <a:schemeClr val="tx2"/>
                </a:solidFill>
              </a:rPr>
              <a:t>nd</a:t>
            </a:r>
            <a:r>
              <a:rPr lang="en-US" sz="1600" b="1" dirty="0" smtClean="0">
                <a:solidFill>
                  <a:schemeClr val="tx2"/>
                </a:solidFill>
              </a:rPr>
              <a:t> layer using 128 nodes, fully connected, using ‘</a:t>
            </a:r>
            <a:r>
              <a:rPr lang="en-US" sz="1600" b="1" dirty="0" err="1" smtClean="0">
                <a:solidFill>
                  <a:schemeClr val="tx2"/>
                </a:solidFill>
              </a:rPr>
              <a:t>relu</a:t>
            </a:r>
            <a:r>
              <a:rPr lang="en-US" sz="1600" b="1" dirty="0" smtClean="0">
                <a:solidFill>
                  <a:schemeClr val="tx2"/>
                </a:solidFill>
              </a:rPr>
              <a:t>’ </a:t>
            </a:r>
            <a:r>
              <a:rPr lang="en-US" sz="1600" b="1" dirty="0">
                <a:solidFill>
                  <a:schemeClr val="tx2"/>
                </a:solidFill>
              </a:rPr>
              <a:t>activation </a:t>
            </a:r>
            <a:r>
              <a:rPr lang="en-US" sz="1600" b="1" dirty="0" smtClean="0">
                <a:solidFill>
                  <a:schemeClr val="tx2"/>
                </a:solidFill>
              </a:rPr>
              <a:t>function</a:t>
            </a:r>
            <a:endParaRPr lang="en-US" sz="1600" b="1" dirty="0">
              <a:solidFill>
                <a:schemeClr val="tx2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600" b="1" dirty="0" smtClean="0">
                <a:solidFill>
                  <a:schemeClr val="tx2"/>
                </a:solidFill>
              </a:rPr>
              <a:t>3</a:t>
            </a:r>
            <a:r>
              <a:rPr lang="en-US" sz="1600" b="1" baseline="30000" dirty="0" smtClean="0">
                <a:solidFill>
                  <a:schemeClr val="tx2"/>
                </a:solidFill>
              </a:rPr>
              <a:t>rd</a:t>
            </a:r>
            <a:r>
              <a:rPr lang="en-US" sz="1600" b="1" dirty="0" smtClean="0">
                <a:solidFill>
                  <a:schemeClr val="tx2"/>
                </a:solidFill>
              </a:rPr>
              <a:t> layer using 64 nodes, fully connected, using ‘</a:t>
            </a:r>
            <a:r>
              <a:rPr lang="en-US" sz="1600" b="1" dirty="0" err="1" smtClean="0">
                <a:solidFill>
                  <a:schemeClr val="tx2"/>
                </a:solidFill>
              </a:rPr>
              <a:t>relu</a:t>
            </a:r>
            <a:r>
              <a:rPr lang="en-US" sz="1600" b="1" dirty="0" smtClean="0">
                <a:solidFill>
                  <a:schemeClr val="tx2"/>
                </a:solidFill>
              </a:rPr>
              <a:t>’ activation function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600" b="1" dirty="0" smtClean="0">
                <a:solidFill>
                  <a:schemeClr val="tx2"/>
                </a:solidFill>
              </a:rPr>
              <a:t>4</a:t>
            </a:r>
            <a:r>
              <a:rPr lang="en-US" sz="1600" b="1" baseline="30000" dirty="0" smtClean="0">
                <a:solidFill>
                  <a:schemeClr val="tx2"/>
                </a:solidFill>
              </a:rPr>
              <a:t>th</a:t>
            </a:r>
            <a:r>
              <a:rPr lang="en-US" sz="1600" b="1" dirty="0" smtClean="0">
                <a:solidFill>
                  <a:schemeClr val="tx2"/>
                </a:solidFill>
              </a:rPr>
              <a:t> layer using 10 nodes, fully connected, using ‘</a:t>
            </a:r>
            <a:r>
              <a:rPr lang="en-US" sz="1600" b="1" dirty="0" err="1" smtClean="0">
                <a:solidFill>
                  <a:schemeClr val="tx2"/>
                </a:solidFill>
              </a:rPr>
              <a:t>softmax</a:t>
            </a:r>
            <a:r>
              <a:rPr lang="en-US" sz="1600" b="1" dirty="0" smtClean="0">
                <a:solidFill>
                  <a:schemeClr val="tx2"/>
                </a:solidFill>
              </a:rPr>
              <a:t>’ activation function and connect to the output 10 columns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600" b="1" dirty="0" smtClean="0">
                <a:solidFill>
                  <a:schemeClr val="tx2"/>
                </a:solidFill>
              </a:rPr>
              <a:t>Add </a:t>
            </a:r>
            <a:r>
              <a:rPr lang="en-US" sz="1600" b="1" dirty="0" smtClean="0">
                <a:solidFill>
                  <a:srgbClr val="FF0000"/>
                </a:solidFill>
              </a:rPr>
              <a:t>drop out </a:t>
            </a:r>
            <a:r>
              <a:rPr lang="en-US" sz="1600" b="1" dirty="0" smtClean="0">
                <a:solidFill>
                  <a:schemeClr val="tx2"/>
                </a:solidFill>
              </a:rPr>
              <a:t>to the first three layers to prevent overfitting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en-US" sz="1600" b="1" dirty="0" smtClean="0">
              <a:solidFill>
                <a:schemeClr val="tx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>
                <a:solidFill>
                  <a:schemeClr val="tx2"/>
                </a:solidFill>
              </a:rPr>
              <a:t>Compile the NN model, define loss function, optimizer, and metrics to follow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b="1" dirty="0" smtClean="0">
              <a:solidFill>
                <a:schemeClr val="tx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>
                <a:solidFill>
                  <a:schemeClr val="tx2"/>
                </a:solidFill>
              </a:rPr>
              <a:t>Fit the NN model using the training dataset, define epoch, mini batch size, and validation size used in the training where the metrics will be checked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b="1" dirty="0" smtClean="0">
              <a:solidFill>
                <a:schemeClr val="tx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 smtClean="0">
                <a:solidFill>
                  <a:schemeClr val="tx2"/>
                </a:solidFill>
              </a:rPr>
              <a:t>Predict using the fitted NN model using the testing dataset</a:t>
            </a:r>
          </a:p>
        </p:txBody>
      </p:sp>
    </p:spTree>
    <p:extLst>
      <p:ext uri="{BB962C8B-B14F-4D97-AF65-F5344CB8AC3E}">
        <p14:creationId xmlns:p14="http://schemas.microsoft.com/office/powerpoint/2010/main" val="2766868146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269632"/>
            <a:ext cx="8077200" cy="11430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accent2"/>
                </a:solidFill>
              </a:rPr>
              <a:t>R Scripts</a:t>
            </a:r>
            <a:endParaRPr lang="en-US" sz="3600" dirty="0">
              <a:solidFill>
                <a:schemeClr val="accent2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387" y="1621500"/>
            <a:ext cx="6486525" cy="1930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243" y="3685834"/>
            <a:ext cx="3171825" cy="102155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249" y="4981332"/>
            <a:ext cx="3200400" cy="102155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387" y="6270617"/>
            <a:ext cx="3371850" cy="4714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391401" y="2318869"/>
            <a:ext cx="14477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Define NN Structure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4193796" y="3873446"/>
            <a:ext cx="449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Compile and define loss function, optimizer and metrics to monitor during the training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4191000" y="5168944"/>
            <a:ext cx="449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Fit the model using training dataset and define epochs, batch size and validation data</a:t>
            </a:r>
            <a:endParaRPr 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4191000" y="6336268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Predict new outcomes using the trained model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74283429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806" y="1412632"/>
            <a:ext cx="7367588" cy="5230178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762000" y="269632"/>
            <a:ext cx="8077200" cy="11430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accent2"/>
                </a:solidFill>
              </a:rPr>
              <a:t>Size of the Model</a:t>
            </a:r>
            <a:endParaRPr lang="en-US" sz="36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1530325"/>
      </p:ext>
    </p:extLst>
  </p:cSld>
  <p:clrMapOvr>
    <a:masterClrMapping/>
  </p:clrMapOvr>
  <p:transition spd="slow">
    <p:wipe dir="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269632"/>
            <a:ext cx="8077200" cy="11430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accent2"/>
                </a:solidFill>
              </a:rPr>
              <a:t>Performance</a:t>
            </a:r>
            <a:endParaRPr lang="en-US" sz="3600" dirty="0">
              <a:solidFill>
                <a:schemeClr val="accent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33800" y="641077"/>
            <a:ext cx="48020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chemeClr val="accent1"/>
                </a:solidFill>
              </a:rPr>
              <a:t>Accuracy: 97.99% without much fine tuning</a:t>
            </a:r>
            <a:endParaRPr lang="en-US" sz="2000" b="1" dirty="0">
              <a:solidFill>
                <a:schemeClr val="accent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28995"/>
            <a:ext cx="2576513" cy="25050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0437" y="1752600"/>
            <a:ext cx="2600325" cy="2514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512" y="1748045"/>
            <a:ext cx="2581275" cy="24860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327" y="4336865"/>
            <a:ext cx="2600325" cy="248126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47203" y="1392754"/>
            <a:ext cx="3079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chemeClr val="accent1"/>
                </a:solidFill>
              </a:rPr>
              <a:t>A few misclassified images:</a:t>
            </a:r>
            <a:endParaRPr lang="en-US" sz="2000" b="1" dirty="0">
              <a:solidFill>
                <a:schemeClr val="accent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0437" y="4368454"/>
            <a:ext cx="2662238" cy="251936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5512" y="4277139"/>
            <a:ext cx="2643188" cy="256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416251"/>
      </p:ext>
    </p:extLst>
  </p:cSld>
  <p:clrMapOvr>
    <a:masterClrMapping/>
  </p:clrMapOvr>
  <p:transition spd="slow">
    <p:wipe dir="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374" y="1524000"/>
            <a:ext cx="5991225" cy="5181599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762000" y="269632"/>
            <a:ext cx="8077200" cy="11430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accent2"/>
                </a:solidFill>
              </a:rPr>
              <a:t>Cross-Validation Curve</a:t>
            </a:r>
            <a:endParaRPr lang="en-US" sz="36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4184429"/>
      </p:ext>
    </p:extLst>
  </p:cSld>
  <p:clrMapOvr>
    <a:masterClrMapping/>
  </p:clrMapOvr>
  <p:transition spd="slow">
    <p:wipe dir="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3400" y="1524000"/>
            <a:ext cx="4343400" cy="1362075"/>
          </a:xfrm>
        </p:spPr>
        <p:txBody>
          <a:bodyPr/>
          <a:lstStyle/>
          <a:p>
            <a:r>
              <a:rPr lang="en-US" dirty="0" smtClean="0"/>
              <a:t>Now Let’s Do It </a:t>
            </a:r>
            <a:r>
              <a:rPr lang="en-US" dirty="0"/>
              <a:t>I</a:t>
            </a:r>
            <a:r>
              <a:rPr lang="en-US" dirty="0" smtClean="0"/>
              <a:t>n The Cloud!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38200" y="3505200"/>
            <a:ext cx="7620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Databrick</a:t>
            </a:r>
            <a:r>
              <a:rPr lang="en-US" b="1" dirty="0" smtClean="0">
                <a:solidFill>
                  <a:srgbClr val="FF0000"/>
                </a:solidFill>
              </a:rPr>
              <a:t> free community edition account open: </a:t>
            </a:r>
            <a:r>
              <a:rPr lang="en-US" b="1" dirty="0" smtClean="0">
                <a:solidFill>
                  <a:srgbClr val="FF0000"/>
                </a:solidFill>
                <a:hlinkClick r:id="rId2"/>
              </a:rPr>
              <a:t>https</a:t>
            </a:r>
            <a:r>
              <a:rPr lang="en-US" b="1" dirty="0">
                <a:solidFill>
                  <a:srgbClr val="FF0000"/>
                </a:solidFill>
                <a:hlinkClick r:id="rId2"/>
              </a:rPr>
              <a:t>://</a:t>
            </a:r>
            <a:r>
              <a:rPr lang="en-US" b="1" dirty="0" smtClean="0">
                <a:solidFill>
                  <a:srgbClr val="FF0000"/>
                </a:solidFill>
                <a:hlinkClick r:id="rId2"/>
              </a:rPr>
              <a:t>accounts.cloud.databricks.com/registration.html#signup/community</a:t>
            </a:r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 smtClean="0">
              <a:solidFill>
                <a:srgbClr val="FF0000"/>
              </a:solidFill>
            </a:endParaRP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 smtClean="0">
                <a:solidFill>
                  <a:srgbClr val="FF0000"/>
                </a:solidFill>
              </a:rPr>
              <a:t>Notebook contains all the material for this section:</a:t>
            </a:r>
          </a:p>
          <a:p>
            <a:r>
              <a:rPr lang="en-US" b="1" dirty="0">
                <a:solidFill>
                  <a:srgbClr val="FF0000"/>
                </a:solidFill>
                <a:hlinkClick r:id="rId3"/>
              </a:rPr>
              <a:t>https://</a:t>
            </a:r>
            <a:r>
              <a:rPr lang="en-US" b="1" dirty="0" smtClean="0">
                <a:solidFill>
                  <a:srgbClr val="FF0000"/>
                </a:solidFill>
                <a:hlinkClick r:id="rId3"/>
              </a:rPr>
              <a:t>databricks-prod-cloudfront.cloud.databricks.com/public/4027ec902e239c93eaaa8714f173bcfc/2961012104553482/1430974153588517/1806228006848429/latest.html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3828613"/>
      </p:ext>
    </p:extLst>
  </p:cSld>
  <p:clrMapOvr>
    <a:masterClrMapping/>
  </p:clrMapOvr>
  <p:transition spd="slow">
    <p:wipe dir="d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yI2DOt6RzRcU51QxdhNewL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AGzTPKJNXuuOK4v20iPS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uhWvCQomImT50qU5y4Znw"/>
</p:tagLst>
</file>

<file path=ppt/theme/theme1.xml><?xml version="1.0" encoding="utf-8"?>
<a:theme xmlns:a="http://schemas.openxmlformats.org/drawingml/2006/main" name="Trainin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1049</Words>
  <Application>Microsoft Office PowerPoint</Application>
  <PresentationFormat>On-screen Show (4:3)</PresentationFormat>
  <Paragraphs>161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Cambria Math</vt:lpstr>
      <vt:lpstr>Georgia</vt:lpstr>
      <vt:lpstr>Wingdings</vt:lpstr>
      <vt:lpstr>Training</vt:lpstr>
      <vt:lpstr>Deep Learning</vt:lpstr>
      <vt:lpstr>A Little Bit About Deep Learning History</vt:lpstr>
      <vt:lpstr>Simple Feed Forward Neural Network (FFNN)</vt:lpstr>
      <vt:lpstr>Typical Loss Functions</vt:lpstr>
      <vt:lpstr>From Slow Progress to Wide Adoption</vt:lpstr>
      <vt:lpstr>Optimization Methods</vt:lpstr>
      <vt:lpstr>Activation Functions</vt:lpstr>
      <vt:lpstr>Deal With Overfitting</vt:lpstr>
      <vt:lpstr>Recap of A Few Key Concepts</vt:lpstr>
      <vt:lpstr>Deep Learning Models Across Platforms</vt:lpstr>
      <vt:lpstr>Open NN Exchange Format (ONNX)</vt:lpstr>
      <vt:lpstr>The MNIST Dataset</vt:lpstr>
      <vt:lpstr>MNIST Dataset</vt:lpstr>
      <vt:lpstr>Using Keras R Package To Build Deep Neural Network Model</vt:lpstr>
      <vt:lpstr>Procedures</vt:lpstr>
      <vt:lpstr>R Scripts</vt:lpstr>
      <vt:lpstr>Size of the Model</vt:lpstr>
      <vt:lpstr>Performance</vt:lpstr>
      <vt:lpstr>Cross-Validation Curve</vt:lpstr>
      <vt:lpstr>Now Let’s Do It In The Cloud!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2013-07-12T01:18:53Z</dcterms:created>
  <dcterms:modified xsi:type="dcterms:W3CDTF">2018-05-30T01:26:17Z</dcterms:modified>
</cp:coreProperties>
</file>